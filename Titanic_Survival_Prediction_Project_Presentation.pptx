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8200" y="960120"/>
            <a:ext cx="2011680" cy="2011680"/>
          </a:xfrm>
          <a:prstGeom prst="ellipse">
            <a:avLst/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1828800"/>
            <a:ext cx="1417320" cy="1417320"/>
          </a:xfrm>
          <a:prstGeom prst="ellipse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21040" y="3017520"/>
            <a:ext cx="2377440" cy="2377440"/>
          </a:xfrm>
          <a:prstGeom prst="ellipse">
            <a:avLst/>
          </a:prstGeom>
          <a:solidFill>
            <a:srgbClr val="1C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4023360"/>
            <a:ext cx="777240" cy="777240"/>
          </a:xfrm>
          <a:prstGeom prst="ellipse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63093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E87524"/>
                </a:solidFill>
                <a:latin typeface="Aptos"/>
              </a:rPr>
              <a:t>MACHINE LEARNING  /  BINARY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06640" cy="1463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TITANIC
SURVIVAL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154680"/>
            <a:ext cx="6492240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dirty="0">
                <a:solidFill>
                  <a:srgbClr val="DCE4EC"/>
                </a:solidFill>
                <a:latin typeface="Aptos"/>
              </a:rPr>
              <a:t>Understanding passenger survival through data-driven modelling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230368"/>
            <a:ext cx="63093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9AA9B8"/>
                </a:solidFill>
                <a:latin typeface="Aptos"/>
              </a:rPr>
              <a:t>PROJECT OVERVIEW • LITERATURE • METHODOLOGY •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852160"/>
            <a:ext cx="1205586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ptos"/>
              </a:rPr>
              <a:t>12</a:t>
            </a:r>
            <a:r>
              <a:rPr lang="en-US" sz="1100" b="0" baseline="30000" dirty="0">
                <a:solidFill>
                  <a:srgbClr val="FFFFFF"/>
                </a:solidFill>
                <a:latin typeface="Aptos"/>
              </a:rPr>
              <a:t>th</a:t>
            </a:r>
            <a:r>
              <a:rPr lang="en-US"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October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C3E5A-3F6E-1922-11B5-445A0E0BAD6C}"/>
              </a:ext>
            </a:extLst>
          </p:cNvPr>
          <p:cNvSpPr txBox="1"/>
          <p:nvPr/>
        </p:nvSpPr>
        <p:spPr>
          <a:xfrm>
            <a:off x="768096" y="3993864"/>
            <a:ext cx="3744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Mohanraj I – 23MID0121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Shobana Balusamy – 23MID0212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Understanding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A supervised classification task using historical passenger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74720" cy="21031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03704"/>
            <a:ext cx="50292" cy="1810511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24328"/>
            <a:ext cx="3199530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What passenger characteristics were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associated with a greater likelihood of survival?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474720" cy="21031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203704"/>
            <a:ext cx="50292" cy="1810511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24328"/>
            <a:ext cx="3108960" cy="144475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E4EC"/>
                </a:solidFill>
                <a:latin typeface="Aptos"/>
              </a:rPr>
              <a:t>Survived = 0 (did not survive)
Survived = 1 (survived)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57400"/>
            <a:ext cx="3474720" cy="21031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203704"/>
            <a:ext cx="50292" cy="1810511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24328"/>
            <a:ext cx="2983830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Learn patterns from labelled records and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predict outcomes for passengers in the test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Kaggle: Titanic — Machine Learning from Disaster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383280" cy="150876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03704"/>
            <a:ext cx="50292" cy="1216151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037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17520" cy="8503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E4EC"/>
                </a:solidFill>
                <a:latin typeface="Aptos"/>
              </a:rPr>
              <a:t>Labelled passenger records in train.csv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57400"/>
            <a:ext cx="3383280" cy="150876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203704"/>
            <a:ext cx="50292" cy="1216151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2037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418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624328"/>
            <a:ext cx="3017520" cy="8503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E4EC"/>
                </a:solidFill>
                <a:latin typeface="Aptos"/>
              </a:rPr>
              <a:t>Unlabelled passenger records in test.csv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057400"/>
            <a:ext cx="3383280" cy="150876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203704"/>
            <a:ext cx="50292" cy="1216151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2037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0 /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24328"/>
            <a:ext cx="3017520" cy="8503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E4EC"/>
                </a:solidFill>
                <a:latin typeface="Aptos"/>
              </a:rPr>
              <a:t>Binary target: did not survive / survived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52120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Candidate predictors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5120640" cy="1371600"/>
          </a:xfrm>
          <a:prstGeom prst="rect">
            <a:avLst/>
          </a:prstGeom>
          <a:noFill/>
        </p:spPr>
        <p:txBody>
          <a:bodyPr wrap="none" lIns="45720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Passenger class, sex, age and fare</a:t>
            </a:r>
          </a:p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Family aboard: SibSp and Parch</a:t>
            </a:r>
          </a:p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Embarkation port, name/title, cabin and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49377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Data quality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72000"/>
            <a:ext cx="4937760" cy="1371600"/>
          </a:xfrm>
          <a:prstGeom prst="rect">
            <a:avLst/>
          </a:prstGeom>
          <a:noFill/>
        </p:spPr>
        <p:txBody>
          <a:bodyPr wrap="none" lIns="45720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Missing values in selected fields</a:t>
            </a:r>
          </a:p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Categorical values need encoding</a:t>
            </a:r>
          </a:p>
          <a:p>
            <a:pPr>
              <a:spcAft>
                <a:spcPts val="800"/>
              </a:spcAft>
              <a:defRPr sz="1300">
                <a:solidFill>
                  <a:srgbClr val="DCE4EC"/>
                </a:solidFill>
                <a:latin typeface="Aptos"/>
              </a:defRPr>
            </a:pPr>
            <a:r>
              <a:t>•  Small dataset; guard against overfitting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RESEARCH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Prior work informs the hypotheses and technical approach.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66160" cy="315468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12264"/>
            <a:ext cx="50292" cy="286207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12264"/>
            <a:ext cx="32004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01  Kaggle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32888"/>
            <a:ext cx="2955874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Defines the dataset, target, train/test split,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accuracy metric and submission format.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5960"/>
            <a:ext cx="3566160" cy="315468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2112264"/>
            <a:ext cx="50292" cy="286207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2112264"/>
            <a:ext cx="32004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02  Sociological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532888"/>
            <a:ext cx="3304494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Gupta et al. (2018) examine sex, title and family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density as candidate factors in survival patterns.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965960"/>
            <a:ext cx="3566160" cy="315468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82712" y="2112264"/>
            <a:ext cx="50292" cy="286207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2112264"/>
            <a:ext cx="32004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03  ML methods &amp; preprocessing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32888"/>
            <a:ext cx="322783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Recent algorithm comparisons motivate model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testing; scikit-learn guidance supports imputation and one-hot encoding. [3–5]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32120"/>
            <a:ext cx="105156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E87524"/>
                </a:solidFill>
                <a:latin typeface="Aptos"/>
              </a:rPr>
              <a:t>Takeaway: test evidence-based hypotheses and compare models on held-out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From data inspection to a validated Kaggle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66544"/>
            <a:ext cx="50292" cy="112471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665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01 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824619" cy="4124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DCE4EC"/>
                </a:solidFill>
                <a:latin typeface="Aptos"/>
              </a:rPr>
              <a:t>Understand distributions, target balance and </a:t>
            </a:r>
            <a:endParaRPr lang="en-US" sz="11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lang="en-IN" sz="1100" b="0" dirty="0">
                <a:solidFill>
                  <a:srgbClr val="DCE4EC"/>
                </a:solidFill>
                <a:latin typeface="Aptos"/>
              </a:rPr>
              <a:t>m</a:t>
            </a:r>
            <a:r>
              <a:rPr sz="1100" b="0" dirty="0" err="1">
                <a:solidFill>
                  <a:srgbClr val="DCE4EC"/>
                </a:solidFill>
                <a:latin typeface="Aptos"/>
              </a:rPr>
              <a:t>issing</a:t>
            </a:r>
            <a:r>
              <a:rPr lang="en-US" sz="1100" b="0" dirty="0">
                <a:solidFill>
                  <a:srgbClr val="DCE4EC"/>
                </a:solidFill>
                <a:latin typeface="Aptos"/>
              </a:rPr>
              <a:t> </a:t>
            </a:r>
            <a:r>
              <a:rPr sz="1100" b="0" dirty="0">
                <a:solidFill>
                  <a:srgbClr val="DCE4EC"/>
                </a:solidFill>
                <a:latin typeface="Aptos"/>
              </a:rPr>
              <a:t>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20240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53128" y="2066544"/>
            <a:ext cx="50292" cy="112471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0665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02 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487168"/>
            <a:ext cx="3090672" cy="7589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Build a reproducible preprocessing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920240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0456" y="2066544"/>
            <a:ext cx="50292" cy="112471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1624" y="20665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03 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487168"/>
            <a:ext cx="3090672" cy="7589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Test family-size and title-based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95344"/>
            <a:ext cx="50292" cy="112471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953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04 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15968"/>
            <a:ext cx="2832635" cy="41242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DCE4EC"/>
                </a:solidFill>
                <a:latin typeface="Aptos"/>
              </a:rPr>
              <a:t>Compare Logistic Regression and tree-based </a:t>
            </a:r>
            <a:endParaRPr lang="en-US" sz="11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DCE4EC"/>
                </a:solidFill>
                <a:latin typeface="Aptos"/>
              </a:rPr>
              <a:t>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749039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3128" y="3895344"/>
            <a:ext cx="50292" cy="112471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4296" y="38953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05  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315968"/>
            <a:ext cx="3090672" cy="7589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Use validation metrics and error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0456" y="3749039"/>
            <a:ext cx="3456432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0456" y="3895344"/>
            <a:ext cx="50292" cy="112471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21624" y="3895344"/>
            <a:ext cx="30906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06  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315968"/>
            <a:ext cx="3090672" cy="75895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Generate the required 418-row submission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Model architecture /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A repeatable pipeline from raw data to final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1508760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8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2121408"/>
            <a:ext cx="1380743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42032"/>
            <a:ext cx="1362456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>
                <a:solidFill>
                  <a:srgbClr val="DCE4EC"/>
                </a:solidFill>
                <a:latin typeface="Aptos"/>
              </a:rPr>
              <a:t>train.csv + test.csv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80844" y="2633472"/>
            <a:ext cx="91440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95144" y="1920240"/>
            <a:ext cx="1508760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8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59151" y="2121408"/>
            <a:ext cx="1380743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AUDIT &amp;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2542032"/>
            <a:ext cx="1362456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>
                <a:solidFill>
                  <a:srgbClr val="DCE4EC"/>
                </a:solidFill>
                <a:latin typeface="Aptos"/>
              </a:rPr>
              <a:t>Quality checks + patterns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17620" y="2633472"/>
            <a:ext cx="91439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31920" y="1920240"/>
            <a:ext cx="1508760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8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5928" y="2121408"/>
            <a:ext cx="1380743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542032"/>
            <a:ext cx="1362456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>
                <a:solidFill>
                  <a:srgbClr val="DCE4EC"/>
                </a:solidFill>
                <a:latin typeface="Aptos"/>
              </a:rPr>
              <a:t>Imputation + encoding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54395" y="2633472"/>
            <a:ext cx="91441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68696" y="1920240"/>
            <a:ext cx="1508760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38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32704" y="2121408"/>
            <a:ext cx="1380743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2542032"/>
            <a:ext cx="1362456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>
                <a:solidFill>
                  <a:srgbClr val="DCE4EC"/>
                </a:solidFill>
                <a:latin typeface="Aptos"/>
              </a:rPr>
              <a:t>Family size + title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91172" y="2633472"/>
            <a:ext cx="91440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05472" y="1920240"/>
            <a:ext cx="1508760" cy="1417320"/>
          </a:xfrm>
          <a:prstGeom prst="roundRect">
            <a:avLst/>
          </a:prstGeom>
          <a:solidFill>
            <a:srgbClr val="273A4D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2121408"/>
            <a:ext cx="1378227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E87524"/>
                </a:solidFill>
                <a:latin typeface="Aptos"/>
              </a:rPr>
              <a:t>TRAIN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957" y="2542032"/>
            <a:ext cx="1101391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dirty="0">
                <a:solidFill>
                  <a:srgbClr val="DCE4EC"/>
                </a:solidFill>
                <a:latin typeface="Aptos"/>
              </a:rPr>
              <a:t>Logistic Regression /</a:t>
            </a:r>
            <a:endParaRPr lang="en-US" sz="900" b="0" dirty="0">
              <a:solidFill>
                <a:srgbClr val="DCE4EC"/>
              </a:solidFill>
              <a:latin typeface="Aptos"/>
            </a:endParaRPr>
          </a:p>
          <a:p>
            <a:pPr algn="ctr"/>
            <a:r>
              <a:rPr sz="900" b="0" dirty="0">
                <a:solidFill>
                  <a:srgbClr val="DCE4EC"/>
                </a:solidFill>
                <a:latin typeface="Aptos"/>
              </a:rPr>
              <a:t> Random Forest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14232" y="2633472"/>
            <a:ext cx="91439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8531" y="1920240"/>
            <a:ext cx="1508760" cy="1417320"/>
          </a:xfrm>
          <a:prstGeom prst="roundRect">
            <a:avLst/>
          </a:prstGeom>
          <a:solidFill>
            <a:srgbClr val="273A4D"/>
          </a:solidFill>
          <a:ln>
            <a:solidFill>
              <a:srgbClr val="38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42248" y="2135124"/>
            <a:ext cx="1380743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527677"/>
            <a:ext cx="1362456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dirty="0">
                <a:solidFill>
                  <a:srgbClr val="DCE4EC"/>
                </a:solidFill>
                <a:latin typeface="Aptos"/>
              </a:rPr>
              <a:t>Accuracy + confusion matrix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37291" y="2633472"/>
            <a:ext cx="91439" cy="0"/>
          </a:xfrm>
          <a:prstGeom prst="line">
            <a:avLst/>
          </a:prstGeom>
          <a:ln w="19050">
            <a:solidFill>
              <a:srgbClr val="E87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40160" y="1920240"/>
            <a:ext cx="1396240" cy="1417320"/>
          </a:xfrm>
          <a:prstGeom prst="roundRect">
            <a:avLst/>
          </a:prstGeom>
          <a:solidFill>
            <a:srgbClr val="1C3047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65308" y="2135124"/>
            <a:ext cx="133553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E87524"/>
                </a:solidFill>
                <a:latin typeface="Aptos"/>
              </a:rPr>
              <a:t>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9103" y="2527677"/>
            <a:ext cx="854529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dirty="0">
                <a:solidFill>
                  <a:srgbClr val="DCE4EC"/>
                </a:solidFill>
                <a:latin typeface="Aptos"/>
              </a:rPr>
              <a:t>418 outcomes→</a:t>
            </a:r>
            <a:endParaRPr lang="en-US" sz="900" b="0" dirty="0">
              <a:solidFill>
                <a:srgbClr val="DCE4EC"/>
              </a:solidFill>
              <a:latin typeface="Aptos"/>
            </a:endParaRPr>
          </a:p>
          <a:p>
            <a:pPr algn="ctr"/>
            <a:r>
              <a:rPr sz="900" b="0" dirty="0">
                <a:solidFill>
                  <a:srgbClr val="DCE4EC"/>
                </a:solidFill>
                <a:latin typeface="Aptos"/>
              </a:rPr>
              <a:t>submission.csv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977639"/>
            <a:ext cx="1069848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E87524"/>
                </a:solidFill>
                <a:latin typeface="Aptos"/>
              </a:rPr>
              <a:t>Leakage control: fit imputers, encoders and transformations on training folds only.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09160"/>
            <a:ext cx="10515600" cy="8229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Final output: a CSV with exactly two columns — PassengerId and Survived — and 418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Sequential work packages with clear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01  Data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Schema, missing values, duplicates and target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13432"/>
            <a:ext cx="10149840" cy="10972"/>
          </a:xfrm>
          <a:prstGeom prst="rect">
            <a:avLst/>
          </a:prstGeom>
          <a:solidFill>
            <a:srgbClr val="31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02 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96312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Survival patterns across demographics and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35224"/>
            <a:ext cx="10149840" cy="10972"/>
          </a:xfrm>
          <a:prstGeom prst="rect">
            <a:avLst/>
          </a:prstGeom>
          <a:solidFill>
            <a:srgbClr val="31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4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03 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18104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Imputation, encoding and feature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57016"/>
            <a:ext cx="10149840" cy="10972"/>
          </a:xfrm>
          <a:prstGeom prst="rect">
            <a:avLst/>
          </a:prstGeom>
          <a:solidFill>
            <a:srgbClr val="31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04 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739896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Baseline plus candidate classifiers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78808"/>
            <a:ext cx="10149840" cy="10972"/>
          </a:xfrm>
          <a:prstGeom prst="rect">
            <a:avLst/>
          </a:prstGeom>
          <a:solidFill>
            <a:srgbClr val="31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61688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05 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361688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Accuracy, precision/recall, F1 and error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00600"/>
            <a:ext cx="10149840" cy="10972"/>
          </a:xfrm>
          <a:prstGeom prst="rect">
            <a:avLst/>
          </a:prstGeom>
          <a:solidFill>
            <a:srgbClr val="314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E87524"/>
                </a:solidFill>
                <a:latin typeface="Aptos"/>
              </a:rPr>
              <a:t>06 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983480"/>
            <a:ext cx="80467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DCE4EC"/>
                </a:solidFill>
                <a:latin typeface="Aptos"/>
              </a:rPr>
              <a:t>Final model, predictions and Kaggle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Model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Start interpretable; then test whether added complexity helps.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74720" cy="2377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03704"/>
            <a:ext cx="50292" cy="208483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46603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Logistic Regression
• Fast and interpretable
• Requires appropriate encoding and scaling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where relevant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057400"/>
            <a:ext cx="3474720" cy="2377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2203704"/>
            <a:ext cx="50292" cy="208483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TREE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624328"/>
            <a:ext cx="3108960" cy="17190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DCE4EC"/>
                </a:solidFill>
                <a:latin typeface="Aptos"/>
              </a:rPr>
              <a:t>Decision Tree
• Captures non-linear splits
• Can overfit without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057400"/>
            <a:ext cx="3474720" cy="2377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2203704"/>
            <a:ext cx="50292" cy="208483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203704"/>
            <a:ext cx="31089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24328"/>
            <a:ext cx="3198183" cy="8125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Random Forest
• Combines multiple trees
• Compare validation performance and feature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importance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51560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E87524"/>
                </a:solidFill>
                <a:latin typeface="Aptos"/>
              </a:rPr>
              <a:t>Model selection will be based on validation results—not assumed leaderboard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Evaluation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Accuracy is the competition metric; supporting metrics explain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205740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57984"/>
            <a:ext cx="50292" cy="17647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2797945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Accuracy = correct predictions / all </a:t>
            </a:r>
            <a:endParaRPr lang="en-US" sz="14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11680"/>
            <a:ext cx="3383280" cy="205740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157984"/>
            <a:ext cx="50292" cy="176479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SUPPORTING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78608"/>
            <a:ext cx="244028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Precision • Recall • F1-score • </a:t>
            </a:r>
            <a:endParaRPr lang="en-US" sz="14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Confusion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11680"/>
            <a:ext cx="3383280" cy="205740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157984"/>
            <a:ext cx="50292" cy="17647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VALIDATION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78608"/>
            <a:ext cx="2804935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Stratified hold-out split or stratified </a:t>
            </a:r>
            <a:endParaRPr lang="en-US" sz="14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400" b="0" dirty="0">
                <a:solidFill>
                  <a:srgbClr val="DCE4EC"/>
                </a:solidFill>
                <a:latin typeface="Aptos"/>
              </a:rPr>
              <a:t>cross-validation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Work done till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Current development status and next milestones.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920240"/>
            <a:ext cx="329184" cy="329184"/>
          </a:xfrm>
          <a:prstGeom prst="ellipse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901952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87524"/>
                </a:solidFill>
                <a:latin typeface="Aptos"/>
              </a:rPr>
              <a:t>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72237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DCE4EC"/>
                </a:solidFill>
                <a:latin typeface="Aptos"/>
              </a:rPr>
              <a:t>Problem statement and target variable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61488"/>
            <a:ext cx="329184" cy="329184"/>
          </a:xfrm>
          <a:prstGeom prst="ellipse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87524"/>
                </a:solidFill>
                <a:latin typeface="Aptos"/>
              </a:rP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72237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DCE4EC"/>
                </a:solidFill>
                <a:latin typeface="Aptos"/>
              </a:rPr>
              <a:t>Data audit, preprocessing and feature engineering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602736"/>
            <a:ext cx="329184" cy="329184"/>
          </a:xfrm>
          <a:prstGeom prst="ellipse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584448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87524"/>
                </a:solidFill>
                <a:latin typeface="Aptos"/>
              </a:rPr>
              <a:t>IN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84448"/>
            <a:ext cx="72237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DCE4EC"/>
                </a:solidFill>
                <a:latin typeface="Aptos"/>
              </a:rPr>
              <a:t>Training and validation pipeline organisation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443984"/>
            <a:ext cx="329184" cy="329184"/>
          </a:xfrm>
          <a:prstGeom prst="ellipse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4425696"/>
            <a:ext cx="210312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5FB491"/>
                </a:solidFill>
                <a:latin typeface="Aptos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25696"/>
            <a:ext cx="72237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DCE4EC"/>
                </a:solidFill>
                <a:latin typeface="Aptos"/>
              </a:rPr>
              <a:t>Execute experiments, record metrics, choose model and export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Deliverables from the planned modelling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3383280"/>
          </a:xfrm>
          <a:prstGeom prst="rect">
            <a:avLst/>
          </a:prstGeom>
          <a:noFill/>
        </p:spPr>
        <p:txBody>
          <a:bodyPr wrap="none" lIns="45720" tIns="27432" rIns="36576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DCE4EC"/>
                </a:solidFill>
                <a:latin typeface="Aptos"/>
              </a:defRPr>
            </a:pPr>
            <a:r>
              <a:t>•  Reproducible data-preparation and modelling pipeline</a:t>
            </a:r>
          </a:p>
          <a:p>
            <a:pPr>
              <a:spcAft>
                <a:spcPts val="1200"/>
              </a:spcAft>
              <a:defRPr sz="1700">
                <a:solidFill>
                  <a:srgbClr val="DCE4EC"/>
                </a:solidFill>
                <a:latin typeface="Aptos"/>
              </a:defRPr>
            </a:pPr>
            <a:r>
              <a:t>•  Evidence-based comparison of baseline and tree-based classifiers</a:t>
            </a:r>
          </a:p>
          <a:p>
            <a:pPr>
              <a:spcAft>
                <a:spcPts val="1200"/>
              </a:spcAft>
              <a:defRPr sz="1700">
                <a:solidFill>
                  <a:srgbClr val="DCE4EC"/>
                </a:solidFill>
                <a:latin typeface="Aptos"/>
              </a:defRPr>
            </a:pPr>
            <a:r>
              <a:t>•  Analysis of useful predictors and model errors</a:t>
            </a:r>
          </a:p>
          <a:p>
            <a:pPr>
              <a:spcAft>
                <a:spcPts val="1200"/>
              </a:spcAft>
              <a:defRPr sz="1700">
                <a:solidFill>
                  <a:srgbClr val="DCE4EC"/>
                </a:solidFill>
                <a:latin typeface="Aptos"/>
              </a:defRPr>
            </a:pPr>
            <a:r>
              <a:t>•  Kaggle-compatible submission file containing 418 predictions</a:t>
            </a:r>
          </a:p>
          <a:p>
            <a:pPr>
              <a:spcAft>
                <a:spcPts val="1200"/>
              </a:spcAft>
              <a:defRPr sz="1700">
                <a:solidFill>
                  <a:srgbClr val="DCE4EC"/>
                </a:solidFill>
                <a:latin typeface="Aptos"/>
              </a:defRPr>
            </a:pPr>
            <a:r>
              <a:t>•  Documented limitations and future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Limitations &amp; responsible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Historical data can reveal associations, but not the full causal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21488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57984"/>
            <a:ext cx="50292" cy="185623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DATA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89564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Small sample, missing values and potentially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incomplete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11680"/>
            <a:ext cx="3383280" cy="21488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157984"/>
            <a:ext cx="50292" cy="185623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MODEL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78608"/>
            <a:ext cx="2437270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Overfitting, unstable estimates and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dependence on feature choices.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11680"/>
            <a:ext cx="3383280" cy="21488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157984"/>
            <a:ext cx="50292" cy="185623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15798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78608"/>
            <a:ext cx="3107389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Predictions reflect recorded patterns; they do </a:t>
            </a:r>
            <a:endParaRPr lang="en-US" sz="12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DCE4EC"/>
                </a:solidFill>
                <a:latin typeface="Aptos"/>
              </a:rPr>
              <a:t>not prove why individuals survived.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784080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structured path from passenger data to predictions.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30731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dirty="0">
                <a:solidFill>
                  <a:srgbClr val="DCE4EC"/>
                </a:solidFill>
                <a:latin typeface="Aptos"/>
              </a:rPr>
              <a:t>The project combines data exploration, careful preprocessing, feature engineering, model comparison and </a:t>
            </a:r>
            <a:endParaRPr lang="en-US" sz="1800" b="0" dirty="0">
              <a:solidFill>
                <a:srgbClr val="DCE4EC"/>
              </a:solidFill>
              <a:latin typeface="Aptos"/>
            </a:endParaRPr>
          </a:p>
          <a:p>
            <a:pPr algn="l"/>
            <a:r>
              <a:rPr sz="1800" b="0" dirty="0">
                <a:solidFill>
                  <a:srgbClr val="DCE4EC"/>
                </a:solidFill>
                <a:latin typeface="Aptos"/>
              </a:rPr>
              <a:t>validation to build a defensible survival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3200400" cy="1234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4123944"/>
            <a:ext cx="50292" cy="94183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4123944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NEXT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544568"/>
            <a:ext cx="2834640" cy="5760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Run experiments and record validated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977639"/>
            <a:ext cx="3200400" cy="1234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4123944"/>
            <a:ext cx="50292" cy="941832"/>
          </a:xfrm>
          <a:prstGeom prst="rect">
            <a:avLst/>
          </a:prstGeom>
          <a:solidFill>
            <a:srgbClr val="5FB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4123944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544568"/>
            <a:ext cx="2834640" cy="5760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Select the best-performing validated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977639"/>
            <a:ext cx="3200400" cy="1234440"/>
          </a:xfrm>
          <a:prstGeom prst="roundRect">
            <a:avLst/>
          </a:prstGeom>
          <a:solidFill>
            <a:srgbClr val="1C3047"/>
          </a:solidFill>
          <a:ln>
            <a:solidFill>
              <a:srgbClr val="304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4123944"/>
            <a:ext cx="50292" cy="94183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4123944"/>
            <a:ext cx="28346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4544568"/>
            <a:ext cx="2834640" cy="5760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DCE4EC"/>
                </a:solidFill>
                <a:latin typeface="Aptos"/>
              </a:rPr>
              <a:t>Export and submit the final prediction CSV.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475488" cy="50292"/>
          </a:xfrm>
          <a:prstGeom prst="rect">
            <a:avLst/>
          </a:prstGeom>
          <a:solidFill>
            <a:srgbClr val="E87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71323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E87524"/>
                </a:solidFill>
                <a:latin typeface="Aptos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9AA9B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9AA9B8"/>
                </a:solidFill>
                <a:latin typeface="Aptos"/>
              </a:rPr>
              <a:t>Sources used to frame the problem and technical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294741" cy="2125197"/>
          </a:xfrm>
          <a:prstGeom prst="rect">
            <a:avLst/>
          </a:prstGeom>
          <a:noFill/>
        </p:spPr>
        <p:txBody>
          <a:bodyPr wrap="none" lIns="45720" tIns="27432" rIns="36576" bIns="27432">
            <a:spAutoFit/>
          </a:bodyPr>
          <a:lstStyle/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[1] Kaggle, “Titanic — Machine Learning from Disaster.” kaggle.com/c/titanic</a:t>
            </a:r>
          </a:p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[2] Gupta, K., Sharma, P., &amp; Bouza Herreras, C. N. (2018). “Surviving the Titanic tragedy: A sociological study using machine learning models.” Encyclopedia </a:t>
            </a:r>
            <a:endParaRPr lang="en-US" dirty="0"/>
          </a:p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Titanica / Suma de Negocios.</a:t>
            </a:r>
          </a:p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[3] “Survival Prediction of the Titanic: A Comparison of Multiple Machine Learning Algorithms.” (2026). DOI: 10.54254/2755-2721/2026.34283</a:t>
            </a:r>
          </a:p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[4] scikit-learn User Guide, “Imputation of missing values.” scikit-learn.org/stable/modules/impute.html</a:t>
            </a:r>
          </a:p>
          <a:p>
            <a:pPr>
              <a:spcAft>
                <a:spcPts val="1500"/>
              </a:spcAft>
              <a:defRPr sz="1200">
                <a:solidFill>
                  <a:srgbClr val="DCE4EC"/>
                </a:solidFill>
                <a:latin typeface="Aptos"/>
              </a:defRPr>
            </a:pPr>
            <a:r>
              <a:rPr dirty="0"/>
              <a:t>[5] scikit-learn API, “</a:t>
            </a:r>
            <a:r>
              <a:rPr dirty="0" err="1"/>
              <a:t>OneHotEncoder</a:t>
            </a:r>
            <a:r>
              <a:rPr dirty="0"/>
              <a:t>.” scikit-learn.org/stable/modules/generated/sklearn.preprocessing.OneHotEncoder.html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995</Words>
  <Application>Microsoft Office PowerPoint</Application>
  <PresentationFormat>Widescreen</PresentationFormat>
  <Paragraphs>190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Shobana's PC</dc:creator>
  <cp:keywords/>
  <dc:description>generated using python-pptx</dc:description>
  <cp:lastModifiedBy>Shobana's PC</cp:lastModifiedBy>
  <cp:revision>3</cp:revision>
  <dcterms:created xsi:type="dcterms:W3CDTF">2013-01-27T09:14:16Z</dcterms:created>
  <dcterms:modified xsi:type="dcterms:W3CDTF">2026-10-12T03:26:58Z</dcterms:modified>
  <cp:category/>
</cp:coreProperties>
</file>